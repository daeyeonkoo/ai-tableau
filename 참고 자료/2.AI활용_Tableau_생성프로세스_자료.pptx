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B9B1"/>
    <a:srgbClr val="F2A541"/>
    <a:srgbClr val="E05263"/>
    <a:srgbClr val="FEF4E3"/>
    <a:srgbClr val="F6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190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DB3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CLAUDE × TABLEAU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mbria" pitchFamily="34" charset="-120"/>
              </a:rPr>
              <a:t>기획부터 구현까지,</a:t>
            </a:r>
            <a:endParaRPr lang="en-US" sz="3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mbria" pitchFamily="34" charset="-120"/>
              </a:rPr>
              <a:t>대시보드 하나가 만들어진 과정</a:t>
            </a:r>
            <a:endParaRPr lang="en-US" sz="3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3566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3CDE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Superstore 매니저용 YoY 대시보드 · 기획(Claude) → 구현(Claude Code)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44348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45537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2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5074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3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단계 (기획 · 구현)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0" y="44348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0" y="45537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5+6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0" y="5074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3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세부 스텝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715000" y="44348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15000" y="45537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21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15000" y="5074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3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확정 XML 규칙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0" y="44348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0" y="45537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7+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0" y="5074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3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참고 파일 교환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E9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5_superstore_manager_yoy_dashboard.twb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mbria" pitchFamily="34" charset="-120"/>
              </a:rPr>
              <a:t>전체 프로세스</a:t>
            </a:r>
            <a:endParaRPr lang="en-US" sz="2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크게 두 단계 — 담당하는 주체도, 산출물도 다르다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48463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1965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B2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PHASE 1 · 기획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2258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mbria" pitchFamily="34" charset="-120"/>
              </a:rPr>
              <a:t>기획</a:t>
            </a:r>
            <a:endParaRPr lang="en-US" sz="2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7706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Claude (웹/앱)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3056452"/>
            <a:ext cx="42062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파일 인식 확인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컨텍스트 확보 (Data Dictionary + Context Brief)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350" b="1" u="sng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대시보드 스펙 문서</a:t>
            </a:r>
            <a:r>
              <a:rPr lang="en-US" sz="135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작성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350" b="1" u="sng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HTML 기획안</a:t>
            </a:r>
            <a:r>
              <a:rPr lang="en-US" sz="135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생성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Claude Code 핸드오프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43000" y="5293558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E9E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80160" y="529355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→ 산출물: </a:t>
            </a:r>
            <a:r>
              <a:rPr lang="ko-KR" altLang="en-US" sz="1150" b="1" dirty="0">
                <a:solidFill>
                  <a:srgbClr val="1B2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대시보드 </a:t>
            </a:r>
            <a:r>
              <a:rPr lang="en-US" sz="1150" b="1" dirty="0" err="1">
                <a:solidFill>
                  <a:srgbClr val="1B2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스펙</a:t>
            </a:r>
            <a:r>
              <a:rPr lang="en-US" sz="1150" b="1" dirty="0">
                <a:solidFill>
                  <a:srgbClr val="1B2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문서 + HTML 목업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797296" y="3593592"/>
            <a:ext cx="521208" cy="402336"/>
          </a:xfrm>
          <a:prstGeom prst="rightArrow">
            <a:avLst/>
          </a:prstGeom>
          <a:solidFill>
            <a:srgbClr val="C4CCE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46520" y="1691640"/>
            <a:ext cx="48463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0FB9B1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66560" y="1965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FB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PHASE 2 · 구현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66560" y="2258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mbria" pitchFamily="34" charset="-120"/>
              </a:rPr>
              <a:t>구현</a:t>
            </a:r>
            <a:endParaRPr lang="en-US" sz="2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66560" y="27706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Claude Code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66560" y="3056452"/>
            <a:ext cx="42062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핸드오프 수신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전체 생성 시도 → 실패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원인 격리 → 방법론 전환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필터 · 대시보드 조립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350" dirty="0" err="1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디자인</a:t>
            </a:r>
            <a:r>
              <a:rPr lang="en-US" sz="135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ko-KR" altLang="en-US" sz="135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구현</a:t>
            </a:r>
            <a:endParaRPr lang="en-US" altLang="ko-KR" sz="1350" dirty="0">
              <a:solidFill>
                <a:srgbClr val="1B2438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.</a:t>
            </a:r>
            <a:r>
              <a:rPr lang="en-US" sz="1350" dirty="0" err="1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twb</a:t>
            </a:r>
            <a:r>
              <a:rPr lang="en-US" sz="135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ko-KR" altLang="en-US" sz="135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생성 시도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350" b="1" u="sng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마스터 프롬프트</a:t>
            </a:r>
            <a:r>
              <a:rPr lang="en-US" sz="135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문서화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66560" y="5293558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E3FAF8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03720" y="529355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B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→ 산출물: 작동하는 .twb 대시보드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2A4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PHASE 1 · 기획 상세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mbria" pitchFamily="34" charset="-120"/>
              </a:rPr>
              <a:t>데이터 파일 인식부터 핸드오프까지, 5단계</a:t>
            </a:r>
            <a:endParaRPr lang="en-US" sz="2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3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01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1847088" cy="2651760"/>
          </a:xfrm>
          <a:prstGeom prst="roundRect">
            <a:avLst>
              <a:gd name="adj" fmla="val 4455"/>
            </a:avLst>
          </a:prstGeom>
          <a:solidFill>
            <a:srgbClr val="E9ECF6"/>
          </a:solidFill>
          <a:ln w="15875">
            <a:solidFill>
              <a:srgbClr val="1B2A4A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27048" y="2551176"/>
            <a:ext cx="164592" cy="164592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5528" y="2862072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파일 인식 확인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5528" y="3703320"/>
            <a:ext cx="16276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시트 구성, 행/열,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컬럼명 확인·보고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51176" y="3538728"/>
            <a:ext cx="219456" cy="237744"/>
          </a:xfrm>
          <a:prstGeom prst="rightArrow">
            <a:avLst/>
          </a:prstGeom>
          <a:solidFill>
            <a:srgbClr val="C4CCE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88920" y="187452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3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02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88920" y="2331720"/>
            <a:ext cx="1847088" cy="2651760"/>
          </a:xfrm>
          <a:prstGeom prst="roundRect">
            <a:avLst>
              <a:gd name="adj" fmla="val 4455"/>
            </a:avLst>
          </a:prstGeom>
          <a:solidFill>
            <a:srgbClr val="E9ECF6"/>
          </a:solidFill>
          <a:ln w="15875">
            <a:solidFill>
              <a:srgbClr val="1B2A4A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30168" y="2551176"/>
            <a:ext cx="164592" cy="164592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98648" y="2862072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컨텍스트 확보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898648" y="3703320"/>
            <a:ext cx="16276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Data Dictionary.md +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Context Brief.md</a:t>
            </a:r>
            <a:br>
              <a:rPr lang="en-US" sz="110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</a:br>
            <a:r>
              <a:rPr lang="ko-KR" altLang="en-US" sz="110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파일 전달</a:t>
            </a:r>
            <a:endParaRPr lang="en-US" altLang="ko-KR" sz="1100" dirty="0">
              <a:solidFill>
                <a:srgbClr val="5C668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0" indent="0" algn="ctr">
              <a:lnSpc>
                <a:spcPts val="1500"/>
              </a:lnSpc>
              <a:buNone/>
            </a:pPr>
            <a:endParaRPr lang="en-US" sz="1100" dirty="0">
              <a:solidFill>
                <a:srgbClr val="5C668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0" indent="0" algn="ctr">
              <a:lnSpc>
                <a:spcPts val="1500"/>
              </a:lnSpc>
              <a:buNone/>
            </a:pPr>
            <a:r>
              <a:rPr lang="ko-KR" altLang="en-US" sz="1100" b="1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사람이 직접 작성하여 전달 필요</a:t>
            </a:r>
            <a:endParaRPr lang="en-US" sz="11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54296" y="3538728"/>
            <a:ext cx="219456" cy="237744"/>
          </a:xfrm>
          <a:prstGeom prst="rightArrow">
            <a:avLst/>
          </a:prstGeom>
          <a:solidFill>
            <a:srgbClr val="C4CCE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92040" y="187452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3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03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92040" y="2331720"/>
            <a:ext cx="1847088" cy="2651760"/>
          </a:xfrm>
          <a:prstGeom prst="roundRect">
            <a:avLst>
              <a:gd name="adj" fmla="val 4455"/>
            </a:avLst>
          </a:prstGeom>
          <a:solidFill>
            <a:srgbClr val="E9ECF6"/>
          </a:solidFill>
          <a:ln w="15875">
            <a:solidFill>
              <a:srgbClr val="1B2A4A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733288" y="2551176"/>
            <a:ext cx="164592" cy="164592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01768" y="2862072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스펙 문서 작성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01768" y="3703320"/>
            <a:ext cx="16276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10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대시보드 요구사항을</a:t>
            </a:r>
            <a:endParaRPr lang="en-US" altLang="ko-KR" sz="1100" dirty="0">
              <a:solidFill>
                <a:srgbClr val="5C668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0" indent="0" algn="ctr">
              <a:lnSpc>
                <a:spcPts val="1500"/>
              </a:lnSpc>
              <a:buNone/>
            </a:pPr>
            <a:r>
              <a:rPr lang="ko-KR" altLang="en-US" sz="110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나열한 </a:t>
            </a:r>
            <a:r>
              <a:rPr lang="en-US" altLang="ko-KR" sz="110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.md</a:t>
            </a:r>
            <a:r>
              <a:rPr lang="ko-KR" altLang="en-US" sz="110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문서</a:t>
            </a:r>
            <a:endParaRPr lang="en-US" altLang="ko-KR" sz="1100" dirty="0">
              <a:solidFill>
                <a:srgbClr val="5C668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0" indent="0" algn="ctr">
              <a:lnSpc>
                <a:spcPts val="1500"/>
              </a:lnSpc>
              <a:buNone/>
            </a:pPr>
            <a:endParaRPr lang="en-US" altLang="ko-KR" sz="1100" dirty="0">
              <a:solidFill>
                <a:srgbClr val="5C668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algn="ctr">
              <a:lnSpc>
                <a:spcPts val="1500"/>
              </a:lnSpc>
            </a:pPr>
            <a:r>
              <a:rPr lang="ko-KR" altLang="en-US" sz="1100" b="1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산출물</a:t>
            </a:r>
            <a:endParaRPr lang="en-US" altLang="ko-KR" sz="1100" b="1" dirty="0">
              <a:solidFill>
                <a:srgbClr val="5C668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algn="ctr">
              <a:lnSpc>
                <a:spcPts val="1500"/>
              </a:lnSpc>
            </a:pPr>
            <a:r>
              <a:rPr lang="ko-KR" altLang="en-US" sz="1100" b="1" u="sng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대시보드 요구사항</a:t>
            </a:r>
            <a:r>
              <a:rPr lang="en-US" altLang="ko-KR" sz="1100" b="1" u="sng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.md</a:t>
            </a:r>
            <a:r>
              <a:rPr lang="ko-KR" altLang="en-US" sz="1100" b="1" u="sng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생성</a:t>
            </a:r>
            <a:endParaRPr lang="en-US" altLang="ko-KR" sz="1100" b="1" u="sng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757416" y="3538728"/>
            <a:ext cx="219456" cy="237744"/>
          </a:xfrm>
          <a:prstGeom prst="rightArrow">
            <a:avLst/>
          </a:prstGeom>
          <a:solidFill>
            <a:srgbClr val="C4CCE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95160" y="187452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3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04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995160" y="2331720"/>
            <a:ext cx="1847088" cy="2651760"/>
          </a:xfrm>
          <a:prstGeom prst="roundRect">
            <a:avLst>
              <a:gd name="adj" fmla="val 4455"/>
            </a:avLst>
          </a:prstGeom>
          <a:solidFill>
            <a:srgbClr val="E9ECF6"/>
          </a:solidFill>
          <a:ln w="15875">
            <a:solidFill>
              <a:srgbClr val="1B2A4A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836408" y="2551176"/>
            <a:ext cx="164592" cy="164592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04888" y="2862072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HTML 기획안 생성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04888" y="3703320"/>
            <a:ext cx="16276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10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대시보드 요구사항</a:t>
            </a:r>
            <a:endParaRPr lang="en-US" altLang="ko-KR" sz="1100" dirty="0">
              <a:solidFill>
                <a:srgbClr val="5C668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그대로</a:t>
            </a:r>
            <a:r>
              <a:rPr lang="en-US" sz="110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시각화</a:t>
            </a:r>
            <a:endParaRPr lang="en-US" sz="1100" dirty="0">
              <a:solidFill>
                <a:srgbClr val="5C668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0" indent="0" algn="ctr">
              <a:lnSpc>
                <a:spcPts val="1500"/>
              </a:lnSpc>
              <a:buNone/>
            </a:pPr>
            <a:endParaRPr lang="en-US" sz="1100" dirty="0">
              <a:solidFill>
                <a:srgbClr val="5C668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0" indent="0" algn="ctr">
              <a:lnSpc>
                <a:spcPts val="1500"/>
              </a:lnSpc>
              <a:buNone/>
            </a:pPr>
            <a:r>
              <a:rPr lang="ko-KR" altLang="en-US" sz="1100" b="1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산출물</a:t>
            </a:r>
            <a:endParaRPr lang="en-US" sz="1100" b="1" dirty="0">
              <a:solidFill>
                <a:srgbClr val="5C668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0" indent="0" algn="ctr">
              <a:lnSpc>
                <a:spcPts val="1500"/>
              </a:lnSpc>
              <a:buNone/>
            </a:pPr>
            <a:r>
              <a:rPr lang="en-US" altLang="ko-KR" sz="1100" b="1" u="sng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.html </a:t>
            </a:r>
            <a:r>
              <a:rPr lang="ko-KR" altLang="en-US" sz="1100" b="1" u="sng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기획안 생성</a:t>
            </a:r>
            <a:endParaRPr lang="en-US" sz="1100" b="1" u="sng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860536" y="3538728"/>
            <a:ext cx="219456" cy="237744"/>
          </a:xfrm>
          <a:prstGeom prst="rightArrow">
            <a:avLst/>
          </a:prstGeom>
          <a:solidFill>
            <a:srgbClr val="C4CCE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98280" y="187452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3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05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098280" y="2331720"/>
            <a:ext cx="1847088" cy="2651760"/>
          </a:xfrm>
          <a:prstGeom prst="roundRect">
            <a:avLst>
              <a:gd name="adj" fmla="val 4455"/>
            </a:avLst>
          </a:prstGeom>
          <a:solidFill>
            <a:srgbClr val="E9ECF6"/>
          </a:solidFill>
          <a:ln w="15875">
            <a:solidFill>
              <a:srgbClr val="1B2A4A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939528" y="2551176"/>
            <a:ext cx="164592" cy="164592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208008" y="2862072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핸드오프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208008" y="3703320"/>
            <a:ext cx="16276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Claude Code로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작업 전달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3" name="Connector 32"/>
          <p:cNvCxnSpPr>
            <a:cxnSpLocks/>
          </p:cNvCxnSpPr>
          <p:nvPr/>
        </p:nvCxnSpPr>
        <p:spPr>
          <a:xfrm>
            <a:off x="685800" y="5102352"/>
            <a:ext cx="8156448" cy="0"/>
          </a:xfrm>
          <a:prstGeom prst="line">
            <a:avLst/>
          </a:prstGeom>
          <a:ln w="15875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85800" y="5038344"/>
            <a:ext cx="0" cy="128016"/>
          </a:xfrm>
          <a:prstGeom prst="line">
            <a:avLst/>
          </a:prstGeom>
          <a:ln w="15875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835905" y="5038344"/>
            <a:ext cx="0" cy="128016"/>
          </a:xfrm>
          <a:prstGeom prst="line">
            <a:avLst/>
          </a:prstGeom>
          <a:ln w="15875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682496" y="5175504"/>
            <a:ext cx="59436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 dirty="0">
                <a:solidFill>
                  <a:srgbClr val="1B2A4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Claude (웹/앱) </a:t>
            </a:r>
            <a:r>
              <a:rPr sz="1150" b="1" i="0" dirty="0" err="1">
                <a:solidFill>
                  <a:srgbClr val="1B2A4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담당</a:t>
            </a:r>
            <a:r>
              <a:rPr sz="1150" b="1" i="0" dirty="0">
                <a:solidFill>
                  <a:srgbClr val="1B2A4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— 01 ~ 05 전 </a:t>
            </a:r>
            <a:r>
              <a:rPr sz="1150" b="1" i="0" dirty="0" err="1">
                <a:solidFill>
                  <a:srgbClr val="1B2A4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구간</a:t>
            </a:r>
            <a:endParaRPr sz="1150" b="1" i="0" dirty="0">
              <a:solidFill>
                <a:srgbClr val="1B2A4A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916939" y="5055907"/>
            <a:ext cx="2209770" cy="384048"/>
          </a:xfrm>
          <a:prstGeom prst="roundRect">
            <a:avLst>
              <a:gd name="adj" fmla="val 35000"/>
            </a:avLst>
          </a:prstGeom>
          <a:solidFill>
            <a:srgbClr val="E3FAF8"/>
          </a:solidFill>
          <a:ln w="12700">
            <a:solidFill>
              <a:srgbClr val="0FB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 dirty="0">
                <a:solidFill>
                  <a:srgbClr val="0A8A8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05 </a:t>
            </a:r>
            <a:r>
              <a:rPr sz="1050" b="1" dirty="0" err="1">
                <a:solidFill>
                  <a:srgbClr val="0A8A8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</a:t>
            </a:r>
            <a:r>
              <a:rPr sz="1050" b="1" dirty="0">
                <a:solidFill>
                  <a:srgbClr val="0A8A8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→ Claude Code </a:t>
            </a:r>
            <a:r>
              <a:rPr sz="1050" b="1" dirty="0" err="1">
                <a:solidFill>
                  <a:srgbClr val="0A8A8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시작</a:t>
            </a:r>
            <a:endParaRPr sz="1050" b="1" dirty="0">
              <a:solidFill>
                <a:srgbClr val="0A8A8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5800" y="5650992"/>
            <a:ext cx="8229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왜 이 구현 단계는 Claude Code로 진행했나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" y="6089903"/>
            <a:ext cx="82296" cy="82296"/>
          </a:xfrm>
          <a:prstGeom prst="ellipse">
            <a:avLst/>
          </a:prstGeom>
          <a:solidFill>
            <a:srgbClr val="0FB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86968" y="6035040"/>
            <a:ext cx="496519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파일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시스템에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직접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접근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— .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twb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(XML)를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채팅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속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텍스트가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아니라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실제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파일로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읽고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쓰고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검증</a:t>
            </a:r>
            <a:endParaRPr sz="1050" b="0" i="0" dirty="0">
              <a:solidFill>
                <a:srgbClr val="5C6684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6172200" y="6089903"/>
            <a:ext cx="82296" cy="82296"/>
          </a:xfrm>
          <a:prstGeom prst="ellipse">
            <a:avLst/>
          </a:prstGeom>
          <a:solidFill>
            <a:srgbClr val="0FB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373368" y="6035040"/>
            <a:ext cx="496519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수정할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때마다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XML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유효성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(well-formed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여부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)을 그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자리에서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자체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검증</a:t>
            </a:r>
            <a:r>
              <a:rPr sz="1050" b="0" i="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i="0" dirty="0" err="1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가능</a:t>
            </a:r>
            <a:endParaRPr sz="1050" b="0" i="0" dirty="0">
              <a:solidFill>
                <a:srgbClr val="5C6684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685800" y="6485088"/>
            <a:ext cx="82296" cy="82296"/>
          </a:xfrm>
          <a:prstGeom prst="ellipse">
            <a:avLst/>
          </a:prstGeom>
          <a:solidFill>
            <a:srgbClr val="0FB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86968" y="6430225"/>
            <a:ext cx="496519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Grep · Edit로 수천 줄짜리 XML에서 필요한 구간만 정밀하게 수정</a:t>
            </a:r>
          </a:p>
        </p:txBody>
      </p:sp>
      <p:sp>
        <p:nvSpPr>
          <p:cNvPr id="45" name="Oval 44"/>
          <p:cNvSpPr/>
          <p:nvPr/>
        </p:nvSpPr>
        <p:spPr>
          <a:xfrm>
            <a:off x="6172200" y="6485088"/>
            <a:ext cx="82296" cy="82296"/>
          </a:xfrm>
          <a:prstGeom prst="ellipse">
            <a:avLst/>
          </a:prstGeom>
          <a:solidFill>
            <a:srgbClr val="0FB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373368" y="6430225"/>
            <a:ext cx="496519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동일한 수정 패턴을 여러 워크시트에 빠르고 정확하게 반복 적용</a:t>
            </a: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1E75B564-EEBF-EDF5-6079-40F853E1D066}"/>
              </a:ext>
            </a:extLst>
          </p:cNvPr>
          <p:cNvCxnSpPr>
            <a:cxnSpLocks/>
            <a:stCxn id="37" idx="2"/>
          </p:cNvCxnSpPr>
          <p:nvPr/>
        </p:nvCxnSpPr>
        <p:spPr>
          <a:xfrm rot="5400000">
            <a:off x="6751848" y="2482867"/>
            <a:ext cx="312889" cy="622706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PHASE 2 · 구현 상세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mbria" pitchFamily="34" charset="-120"/>
              </a:rPr>
              <a:t>핸드오프 수신부터 문서화까지, 6단계</a:t>
            </a:r>
            <a:endParaRPr lang="en-US" sz="2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3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01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1554480" cy="1941516"/>
          </a:xfrm>
          <a:prstGeom prst="roundRect">
            <a:avLst>
              <a:gd name="adj" fmla="val 5294"/>
            </a:avLst>
          </a:prstGeom>
          <a:solidFill>
            <a:srgbClr val="E9ECF6"/>
          </a:solidFill>
          <a:ln w="15875">
            <a:solidFill>
              <a:srgbClr val="1B2A4A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80744" y="2532888"/>
            <a:ext cx="164592" cy="164592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핸드오프 수신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1371600" cy="571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스펙 + HTML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인계받음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267712" y="3470148"/>
            <a:ext cx="237744" cy="237744"/>
          </a:xfrm>
          <a:prstGeom prst="rightArrow">
            <a:avLst/>
          </a:prstGeom>
          <a:solidFill>
            <a:srgbClr val="C4CCE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532888" y="1874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3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02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32888" y="2331720"/>
            <a:ext cx="1554480" cy="1941516"/>
          </a:xfrm>
          <a:prstGeom prst="roundRect">
            <a:avLst>
              <a:gd name="adj" fmla="val 5294"/>
            </a:avLst>
          </a:prstGeom>
          <a:solidFill>
            <a:srgbClr val="FDECED"/>
          </a:solidFill>
          <a:ln w="15875">
            <a:solidFill>
              <a:srgbClr val="E05263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27832" y="2532888"/>
            <a:ext cx="164592" cy="164592"/>
          </a:xfrm>
          <a:prstGeom prst="ellipse">
            <a:avLst/>
          </a:prstGeom>
          <a:solidFill>
            <a:srgbClr val="E05263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24328" y="2834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ko-KR" altLang="en-US" sz="135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한번에 </a:t>
            </a:r>
            <a:r>
              <a:rPr lang="en-US" altLang="ko-KR" sz="135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.</a:t>
            </a:r>
            <a:r>
              <a:rPr lang="en-US" altLang="ko-KR" sz="1350" b="1" dirty="0" err="1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twb</a:t>
            </a:r>
            <a:r>
              <a:rPr lang="en-US" altLang="ko-KR" sz="135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ko-KR" altLang="en-US" sz="135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파일 생성 </a:t>
            </a:r>
            <a:r>
              <a:rPr lang="en-US" sz="1350" b="1" dirty="0" err="1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시도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624328" y="3566160"/>
            <a:ext cx="1371600" cy="571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로드 자체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실패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0" y="3470148"/>
            <a:ext cx="237744" cy="237744"/>
          </a:xfrm>
          <a:prstGeom prst="rightArrow">
            <a:avLst/>
          </a:prstGeom>
          <a:solidFill>
            <a:srgbClr val="C4CCE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79976" y="1874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3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03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79976" y="2331720"/>
            <a:ext cx="1554480" cy="1941516"/>
          </a:xfrm>
          <a:prstGeom prst="roundRect">
            <a:avLst>
              <a:gd name="adj" fmla="val 5294"/>
            </a:avLst>
          </a:prstGeom>
          <a:solidFill>
            <a:srgbClr val="FEF4E3"/>
          </a:solidFill>
          <a:ln w="15875">
            <a:solidFill>
              <a:srgbClr val="F2A541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74920" y="2532888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71416" y="2834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Step by Step</a:t>
            </a:r>
            <a:br>
              <a:rPr lang="en-US" sz="135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</a:br>
            <a:r>
              <a:rPr lang="ko-KR" altLang="en-US" sz="135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구현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71416" y="3566160"/>
            <a:ext cx="1371600" cy="571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최소 구성으로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재검증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61888" y="3470148"/>
            <a:ext cx="237744" cy="237744"/>
          </a:xfrm>
          <a:prstGeom prst="rightArrow">
            <a:avLst/>
          </a:prstGeom>
          <a:solidFill>
            <a:srgbClr val="C4CCE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27064" y="1874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3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04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27064" y="2331720"/>
            <a:ext cx="1554480" cy="1941516"/>
          </a:xfrm>
          <a:prstGeom prst="roundRect">
            <a:avLst>
              <a:gd name="adj" fmla="val 5294"/>
            </a:avLst>
          </a:prstGeom>
          <a:solidFill>
            <a:srgbClr val="FEF4E3"/>
          </a:solidFill>
          <a:ln w="15875">
            <a:solidFill>
              <a:srgbClr val="F2A541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922008" y="2532888"/>
            <a:ext cx="164592" cy="16459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18504" y="2834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방법론 전환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18504" y="3566160"/>
            <a:ext cx="1371600" cy="571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직접 수정 →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파일 공유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808976" y="3470148"/>
            <a:ext cx="237744" cy="237744"/>
          </a:xfrm>
          <a:prstGeom prst="rightArrow">
            <a:avLst/>
          </a:prstGeom>
          <a:solidFill>
            <a:srgbClr val="C4CCE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74152" y="1874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3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05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074152" y="2331720"/>
            <a:ext cx="1554480" cy="1941516"/>
          </a:xfrm>
          <a:prstGeom prst="roundRect">
            <a:avLst>
              <a:gd name="adj" fmla="val 5294"/>
            </a:avLst>
          </a:prstGeom>
          <a:solidFill>
            <a:srgbClr val="E3FAF8"/>
          </a:solidFill>
          <a:ln w="15875">
            <a:solidFill>
              <a:srgbClr val="0FB9B1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769096" y="2532888"/>
            <a:ext cx="164592" cy="164592"/>
          </a:xfrm>
          <a:prstGeom prst="ellipse">
            <a:avLst/>
          </a:prstGeom>
          <a:solidFill>
            <a:srgbClr val="0FB9B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165592" y="2834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완성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165592" y="3566160"/>
            <a:ext cx="1371600" cy="571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필터·대시보드·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디자인 정합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656064" y="3470148"/>
            <a:ext cx="237744" cy="237744"/>
          </a:xfrm>
          <a:prstGeom prst="rightArrow">
            <a:avLst/>
          </a:prstGeom>
          <a:solidFill>
            <a:srgbClr val="C4CCE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921240" y="1874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3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urier New" pitchFamily="34" charset="-120"/>
              </a:rPr>
              <a:t>06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921240" y="2331720"/>
            <a:ext cx="1554480" cy="1941516"/>
          </a:xfrm>
          <a:prstGeom prst="roundRect">
            <a:avLst>
              <a:gd name="adj" fmla="val 5294"/>
            </a:avLst>
          </a:prstGeom>
          <a:solidFill>
            <a:srgbClr val="E9ECF6"/>
          </a:solidFill>
          <a:ln w="15875">
            <a:solidFill>
              <a:srgbClr val="1B2A4A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0616184" y="2532888"/>
            <a:ext cx="164592" cy="164592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012680" y="2834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문서화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012680" y="3566160"/>
            <a:ext cx="1371600" cy="571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재사용 가능한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C66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규칙 21개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85800" y="452170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E0526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Calibri" pitchFamily="34" charset="-120"/>
              </a:rPr>
              <a:t>빨강 = 실패</a:t>
            </a:r>
            <a:r>
              <a:rPr lang="en-US" sz="1050" b="1" i="1" dirty="0">
                <a:solidFill>
                  <a:srgbClr val="7C869C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Calibri" pitchFamily="34" charset="-120"/>
              </a:rPr>
              <a:t>   ·   </a:t>
            </a:r>
            <a:r>
              <a:rPr lang="en-US" sz="1050" b="1" i="1" dirty="0">
                <a:solidFill>
                  <a:srgbClr val="F2A54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Calibri" pitchFamily="34" charset="-120"/>
              </a:rPr>
              <a:t>호박색 = 방향 전환</a:t>
            </a:r>
            <a:r>
              <a:rPr lang="en-US" sz="1050" b="1" i="1" dirty="0">
                <a:solidFill>
                  <a:srgbClr val="7C869C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Calibri" pitchFamily="34" charset="-120"/>
              </a:rPr>
              <a:t>   ·   </a:t>
            </a:r>
            <a:r>
              <a:rPr lang="en-US" sz="1050" b="1" i="1" dirty="0">
                <a:solidFill>
                  <a:srgbClr val="0FB9B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Calibri" pitchFamily="34" charset="-120"/>
              </a:rPr>
              <a:t>청록 = </a:t>
            </a:r>
            <a:r>
              <a:rPr lang="ko-KR" altLang="en-US" sz="1050" b="1" i="1" dirty="0">
                <a:solidFill>
                  <a:srgbClr val="0FB9B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Calibri" pitchFamily="34" charset="-120"/>
              </a:rPr>
              <a:t>일부 성공 확인</a:t>
            </a:r>
            <a:endParaRPr lang="en-US" sz="1050" b="1" dirty="0">
              <a:solidFill>
                <a:srgbClr val="0FB9B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85800" y="49331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겪었던 어려움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77240" y="5253228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700"/>
              </a:lnSpc>
              <a:buSzPct val="100000"/>
              <a:buChar char="•"/>
            </a:pP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Tableau</a:t>
            </a: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의 관계형 데이터 원본 구현 오류 </a:t>
            </a: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(</a:t>
            </a: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예</a:t>
            </a: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. Superstore)</a:t>
            </a:r>
            <a:b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</a:b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→ </a:t>
            </a: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직접 관계로 데이터 원본을 구현한 </a:t>
            </a: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.</a:t>
            </a:r>
            <a:r>
              <a:rPr lang="en-US" altLang="ko-KR" sz="1100" dirty="0" err="1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twb</a:t>
            </a: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파일을 사전 전달하여 해결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Tableau </a:t>
            </a: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워크시트 기능 다수 </a:t>
            </a:r>
            <a:r>
              <a:rPr lang="ko-KR" altLang="en-US" sz="1100" b="1" u="sng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자체 처리 불가</a:t>
            </a: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:</a:t>
            </a:r>
            <a:br>
              <a:rPr lang="en-US" altLang="ko-KR" sz="1100" b="1" u="sng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</a:b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- </a:t>
            </a:r>
            <a:r>
              <a:rPr lang="ko-KR" altLang="en-US" sz="1100" dirty="0" err="1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집계식</a:t>
            </a: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필드를 워크시트에 배치</a:t>
            </a:r>
            <a:b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</a:b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- </a:t>
            </a: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필터 구현</a:t>
            </a:r>
            <a:b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</a:b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- </a:t>
            </a: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카드</a:t>
            </a: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, </a:t>
            </a:r>
            <a:r>
              <a:rPr lang="ko-KR" altLang="en-US" sz="1100" dirty="0" err="1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히트맵</a:t>
            </a: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형식 차트 구현 등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263640" y="5253228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700"/>
              </a:lnSpc>
              <a:buSzPct val="100000"/>
              <a:buChar char="•"/>
            </a:pP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Claude</a:t>
            </a: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가 직접 구현한 </a:t>
            </a: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.</a:t>
            </a:r>
            <a:r>
              <a:rPr lang="en-US" altLang="ko-KR" sz="1100" dirty="0" err="1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twb</a:t>
            </a: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복제</a:t>
            </a:r>
            <a:endParaRPr lang="en-US" altLang="ko-KR" sz="1100" dirty="0">
              <a:solidFill>
                <a:srgbClr val="1B2438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152400" indent="-152400">
              <a:lnSpc>
                <a:spcPts val="17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복제한 </a:t>
            </a: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.</a:t>
            </a:r>
            <a:r>
              <a:rPr lang="en-US" altLang="ko-KR" sz="1100" dirty="0" err="1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twb</a:t>
            </a: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파일을 직접 수정</a:t>
            </a:r>
            <a:endParaRPr lang="en-US" altLang="ko-KR" sz="1100" dirty="0">
              <a:solidFill>
                <a:srgbClr val="1B2438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152400" indent="-152400">
              <a:lnSpc>
                <a:spcPts val="17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수정된 </a:t>
            </a: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.</a:t>
            </a:r>
            <a:r>
              <a:rPr lang="en-US" altLang="ko-KR" sz="1100" dirty="0" err="1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twb</a:t>
            </a: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파일을 다시 </a:t>
            </a: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Claude</a:t>
            </a: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에게 전달</a:t>
            </a:r>
            <a:endParaRPr lang="en-US" altLang="ko-KR" sz="1100" dirty="0">
              <a:solidFill>
                <a:srgbClr val="1B2438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152400" indent="-1524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Claude</a:t>
            </a: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가 대시보드 구현 방법을 파악하고</a:t>
            </a: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, </a:t>
            </a: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직접 </a:t>
            </a:r>
            <a:r>
              <a:rPr lang="en-US" altLang="ko-KR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.md </a:t>
            </a:r>
            <a:r>
              <a:rPr lang="ko-KR" altLang="en-US" sz="1100" dirty="0">
                <a:solidFill>
                  <a:srgbClr val="1B24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문서로 프로세스 정리하도록 요청</a:t>
            </a:r>
            <a:endParaRPr lang="en-US" sz="1100" dirty="0">
              <a:solidFill>
                <a:srgbClr val="1B2438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9490E149-15A9-9193-46C8-AE95EA7F9EBF}"/>
              </a:ext>
            </a:extLst>
          </p:cNvPr>
          <p:cNvSpPr/>
          <p:nvPr/>
        </p:nvSpPr>
        <p:spPr>
          <a:xfrm>
            <a:off x="6172200" y="49331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F2A54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해결 방안</a:t>
            </a:r>
            <a:r>
              <a:rPr lang="en-US" altLang="ko-KR" sz="1200" b="1" dirty="0">
                <a:solidFill>
                  <a:srgbClr val="F2A54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(</a:t>
            </a:r>
            <a:r>
              <a:rPr lang="ko-KR" altLang="en-US" sz="1200" b="1" dirty="0">
                <a:solidFill>
                  <a:srgbClr val="F2A54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방법론 전환</a:t>
            </a:r>
            <a:r>
              <a:rPr lang="en-US" altLang="ko-KR" sz="1200" b="1" dirty="0">
                <a:solidFill>
                  <a:srgbClr val="F2A54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)</a:t>
            </a:r>
            <a:endParaRPr lang="en-US" sz="1200" dirty="0">
              <a:solidFill>
                <a:srgbClr val="F2A54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A54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KEY TAKEAWAY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371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mbria" pitchFamily="34" charset="-120"/>
              </a:rPr>
              <a:t>Claude는 Tableau를 직접 열어볼 수 없다.</a:t>
            </a:r>
            <a:endParaRPr lang="en-US" sz="3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68" y="2057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CED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mbria" pitchFamily="34" charset="-120"/>
              </a:rPr>
              <a:t>기억에 의존한 추측은 반복해서 틀렸다.</a:t>
            </a:r>
            <a:endParaRPr lang="en-US" sz="3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3063240"/>
            <a:ext cx="29260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10287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3CDE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- </a:t>
            </a:r>
            <a:r>
              <a:rPr lang="en-US" sz="1600" dirty="0" err="1">
                <a:solidFill>
                  <a:srgbClr val="C3CDE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돌파구는</a:t>
            </a:r>
            <a:r>
              <a:rPr lang="en-US" sz="1600" dirty="0">
                <a:solidFill>
                  <a:srgbClr val="C3CDE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사용자가 Tableau UI에서 직접 고쳐서 저장 → 그 파일을 Claude가 읽고 그대로 복제</a:t>
            </a:r>
            <a:r>
              <a:rPr lang="en-US" sz="1600" dirty="0">
                <a:solidFill>
                  <a:srgbClr val="C3CDE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하는 </a:t>
            </a:r>
            <a:r>
              <a:rPr lang="en-US" sz="1600" dirty="0" err="1">
                <a:solidFill>
                  <a:srgbClr val="C3CDE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방식으로</a:t>
            </a:r>
            <a:r>
              <a:rPr lang="en-US" sz="1600" dirty="0">
                <a:solidFill>
                  <a:srgbClr val="C3CDE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전</a:t>
            </a:r>
            <a:r>
              <a:rPr lang="ko-KR" altLang="en-US" sz="1600" dirty="0">
                <a:solidFill>
                  <a:srgbClr val="C3CDE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환</a:t>
            </a:r>
            <a:endParaRPr lang="en-US" altLang="ko-KR" sz="1600" dirty="0">
              <a:solidFill>
                <a:srgbClr val="C3CDE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3CDE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- </a:t>
            </a:r>
            <a:r>
              <a:rPr lang="en-US" sz="1600" dirty="0" err="1">
                <a:solidFill>
                  <a:srgbClr val="C3CDE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이후</a:t>
            </a:r>
            <a:r>
              <a:rPr lang="en-US" sz="1600" dirty="0">
                <a:solidFill>
                  <a:srgbClr val="C3CDE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확보한 문법은 매번 마스터 프롬프트에 규칙으로 남겨, 다음 단계가 같은 시행착오를 반복하지 </a:t>
            </a:r>
            <a:r>
              <a:rPr lang="en-US" sz="1600" dirty="0" err="1">
                <a:solidFill>
                  <a:srgbClr val="C3CDE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않도록</a:t>
            </a:r>
            <a:r>
              <a:rPr lang="en-US" sz="1600" dirty="0">
                <a:solidFill>
                  <a:srgbClr val="C3CDE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 </a:t>
            </a:r>
            <a:r>
              <a:rPr lang="ko-KR" altLang="en-US" sz="1600" dirty="0">
                <a:solidFill>
                  <a:srgbClr val="C3CDE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조치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557784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5687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54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실패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59618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기억으로 추측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30168" y="5916168"/>
            <a:ext cx="237744" cy="201168"/>
          </a:xfrm>
          <a:prstGeom prst="rightArrow">
            <a:avLst/>
          </a:prstGeom>
          <a:solidFill>
            <a:srgbClr val="5E6E9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86200" y="557784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0" y="5687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54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전환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0" y="59618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직접 수정 → 공유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30568" y="5916168"/>
            <a:ext cx="237744" cy="201168"/>
          </a:xfrm>
          <a:prstGeom prst="rightArrow">
            <a:avLst/>
          </a:prstGeom>
          <a:solidFill>
            <a:srgbClr val="5E6E9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086600" y="557784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0" y="5687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54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성공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0" y="59618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정확한 문법 복제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555</Words>
  <Application>Microsoft Office PowerPoint</Application>
  <PresentationFormat>와이드스크린</PresentationFormat>
  <Paragraphs>123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Noto Sans KR</vt:lpstr>
      <vt:lpstr>Noto Sans KR Black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Tableau Team</cp:lastModifiedBy>
  <cp:revision>22</cp:revision>
  <dcterms:created xsi:type="dcterms:W3CDTF">2026-07-30T04:00:18Z</dcterms:created>
  <dcterms:modified xsi:type="dcterms:W3CDTF">2026-07-30T04:55:43Z</dcterms:modified>
</cp:coreProperties>
</file>