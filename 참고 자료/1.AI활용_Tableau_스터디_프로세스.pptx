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3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대표님 보고용. 요청 목적 2가지 → AS-IS/TO-BE + 정량 효과 → 실무 적용 및 최소 달성 기준. 기획안 3~5일→1~2일은 목표치이며, .twb 정확도는 미검증임을 명시.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WBS.xlsx 기준 4주 스케줄. 8/3 OT ~ 8/28 최종 공유.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기존 4단계 중 '산출물·인수인계 자동화' 단계는 이번 스터디 범위에서 제외하고 3개 Phase로 재구성. Phase 2가 2주에 걸쳐 진행되며 .twb 고도화·Pain-Point 정리를 포함한다.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DX2본부 · AI 활용 스터디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Tableau 대시보드 제작 실무에</a:t>
            </a:r>
            <a:endParaRPr lang="en-US" sz="4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선정부터 대시보드 기획·구현, 결과 공유까지 — 4주 완주형 실습 스터디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806440"/>
            <a:ext cx="320040" cy="36576"/>
          </a:xfrm>
          <a:prstGeom prst="rect">
            <a:avLst/>
          </a:prstGeom>
          <a:solidFill>
            <a:srgbClr val="E084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5897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A9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주제·데이터마트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5806440"/>
            <a:ext cx="320040" cy="36576"/>
          </a:xfrm>
          <a:prstGeom prst="rect">
            <a:avLst/>
          </a:prstGeom>
          <a:solidFill>
            <a:srgbClr val="E084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29000" y="5897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A9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</a:t>
            </a:r>
            <a:r>
              <a:rPr lang="en-US" sz="1150" dirty="0">
                <a:solidFill>
                  <a:srgbClr val="A9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.</a:t>
            </a:r>
            <a:r>
              <a:rPr lang="en-US" sz="1150" dirty="0" err="1">
                <a:solidFill>
                  <a:srgbClr val="A9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twb</a:t>
            </a:r>
            <a:r>
              <a:rPr lang="en-US" sz="1150" dirty="0">
                <a:solidFill>
                  <a:srgbClr val="A9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50" dirty="0" err="1">
                <a:solidFill>
                  <a:srgbClr val="A9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5806440"/>
            <a:ext cx="320040" cy="36576"/>
          </a:xfrm>
          <a:prstGeom prst="rect">
            <a:avLst/>
          </a:prstGeom>
          <a:solidFill>
            <a:srgbClr val="E084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35040" y="5897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.twb 고도화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41080" y="5806440"/>
            <a:ext cx="320040" cy="36576"/>
          </a:xfrm>
          <a:prstGeom prst="rect">
            <a:avLst/>
          </a:prstGeom>
          <a:solidFill>
            <a:srgbClr val="E084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41080" y="5897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A9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공유·내재화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스터디 목적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863840" y="4389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248201"/>
            <a:ext cx="5330952" cy="818796"/>
          </a:xfrm>
          <a:prstGeom prst="roundRect">
            <a:avLst>
              <a:gd name="adj" fmla="val 6977"/>
            </a:avLst>
          </a:prstGeom>
          <a:solidFill>
            <a:srgbClr val="F5F7F8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264407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47088" y="1355847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 작성 소요시간 단축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47088" y="1666743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</a:t>
            </a:r>
            <a:r>
              <a:rPr lang="en-US" altLang="ko-KR" sz="11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00" b="1" dirty="0" err="1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작성을</a:t>
            </a:r>
            <a:r>
              <a:rPr lang="en-US" altLang="ko-KR" sz="11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3~5일 → 1~2일로 </a:t>
            </a:r>
            <a:r>
              <a:rPr lang="ko-KR" altLang="en-US" sz="11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 목표</a:t>
            </a:r>
            <a:r>
              <a:rPr lang="en-US" altLang="ko-KR" sz="11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1344" y="1248201"/>
            <a:ext cx="5330952" cy="818796"/>
          </a:xfrm>
          <a:prstGeom prst="roundRect">
            <a:avLst>
              <a:gd name="adj" fmla="val 6977"/>
            </a:avLst>
          </a:prstGeom>
          <a:solidFill>
            <a:srgbClr val="F5F7F8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37376" y="1264407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②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70064" y="1355847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Tableau </a:t>
            </a:r>
            <a:r>
              <a:rPr lang="ko-KR" altLang="en-US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</a:t>
            </a:r>
            <a:r>
              <a:rPr lang="en-US" altLang="ko-KR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r>
              <a:rPr lang="en-US" altLang="ko-KR" sz="1400" b="1" dirty="0" err="1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twb</a:t>
            </a:r>
            <a:r>
              <a:rPr lang="en-US" altLang="ko-KR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생성 시간 단축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70064" y="1648455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실무자가 대시보드 생성을 위해 반복하는 작업 최소화</a:t>
            </a:r>
            <a:r>
              <a:rPr lang="en-US" altLang="ko-KR" sz="11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r>
              <a:rPr lang="en-US" altLang="ko-KR" sz="1100" b="1" dirty="0">
                <a:latin typeface="Noto Sans KR" pitchFamily="34" charset="0"/>
                <a:ea typeface="Noto Sans KR" pitchFamily="34" charset="-122"/>
              </a:rPr>
              <a:t>AI </a:t>
            </a:r>
            <a:r>
              <a:rPr lang="ko-KR" altLang="en-US" sz="1100" b="1" dirty="0">
                <a:latin typeface="Noto Sans KR" pitchFamily="34" charset="0"/>
                <a:ea typeface="Noto Sans KR" pitchFamily="34" charset="-122"/>
              </a:rPr>
              <a:t>툴의 </a:t>
            </a:r>
            <a:r>
              <a:rPr lang="en-US" altLang="ko-KR" sz="1100" b="1" dirty="0">
                <a:latin typeface="Noto Sans KR" pitchFamily="34" charset="0"/>
                <a:ea typeface="Noto Sans KR" pitchFamily="34" charset="-122"/>
              </a:rPr>
              <a:t>.</a:t>
            </a:r>
            <a:r>
              <a:rPr lang="en-US" altLang="ko-KR" sz="1100" b="1" dirty="0" err="1">
                <a:latin typeface="Noto Sans KR" pitchFamily="34" charset="0"/>
                <a:ea typeface="Noto Sans KR" pitchFamily="34" charset="-122"/>
              </a:rPr>
              <a:t>twb</a:t>
            </a:r>
            <a:r>
              <a:rPr lang="en-US" altLang="ko-KR" sz="1100" b="1" dirty="0"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100" b="1" dirty="0">
                <a:latin typeface="Noto Sans KR" pitchFamily="34" charset="0"/>
                <a:ea typeface="Noto Sans KR" pitchFamily="34" charset="-122"/>
              </a:rPr>
              <a:t>대시보드 생성 기능의 완성도에 따라</a:t>
            </a:r>
            <a:r>
              <a:rPr lang="en-US" altLang="ko-KR" sz="1100" b="1" dirty="0"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100" b="1" dirty="0">
                <a:latin typeface="Noto Sans KR" pitchFamily="34" charset="0"/>
                <a:ea typeface="Noto Sans KR" pitchFamily="34" charset="-122"/>
              </a:rPr>
              <a:t>적용 범위 변화</a:t>
            </a:r>
            <a:r>
              <a:rPr lang="en-US" altLang="ko-KR" sz="1100" b="1" dirty="0">
                <a:latin typeface="Noto Sans KR" pitchFamily="34" charset="0"/>
                <a:ea typeface="Noto Sans KR" pitchFamily="34" charset="-122"/>
              </a:rPr>
              <a:t>.</a:t>
            </a:r>
            <a:endParaRPr lang="en-US" altLang="ko-KR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2860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77824" y="243230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r>
              <a:rPr lang="en-US" sz="135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기획 단계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277977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kern="0" spc="100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</a:rPr>
              <a:t>AS-IS</a:t>
            </a:r>
            <a:endParaRPr lang="en-US" altLang="ko-KR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298094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후 PowerPoint 자료 제작까지 3~5일,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담당자마다 형식도 제각각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" y="3566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" y="384048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kern="0" spc="10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TO-BE</a:t>
            </a:r>
            <a:endParaRPr lang="en-US" altLang="ko-KR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4059936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.html 기획안 초안 생성 →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수정·Ideation 반복 시간도 단축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" y="4700016"/>
            <a:ext cx="2852928" cy="384048"/>
          </a:xfrm>
          <a:prstGeom prst="roundRect">
            <a:avLst>
              <a:gd name="adj" fmla="val 11905"/>
            </a:avLst>
          </a:prstGeom>
          <a:solidFill>
            <a:srgbClr val="FBE7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69264" y="4700016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 작성 3~5일 → 1~2일 (목표)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53128" y="22860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72584" y="243230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r>
              <a:rPr lang="en-US" sz="135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구현 단계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72584" y="277977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</a:rPr>
              <a:t>AS-IS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72584" y="298094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기획안을 보고 Tableau에서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시트·차트를 처음부터 하나씩 제작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72584" y="3566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72584" y="384048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TO-BE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72584" y="4059936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 기반 .twb 초안 자동 생성 →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디자인·차트 고도화에 집중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72584" y="4700016"/>
            <a:ext cx="2852928" cy="384048"/>
          </a:xfrm>
          <a:prstGeom prst="roundRect">
            <a:avLst>
              <a:gd name="adj" fmla="val 11905"/>
            </a:avLst>
          </a:prstGeom>
          <a:solidFill>
            <a:srgbClr val="E2E7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764024" y="4700016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정확도는 검증 전 — 최소 레이아웃·계산식 초안 확보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47888" y="22860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467344" y="2432304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r>
              <a:rPr lang="en-US" sz="135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팀 자산화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67344" y="277977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kern="0" spc="100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</a:rPr>
              <a:t>AS-IS</a:t>
            </a:r>
            <a:endParaRPr lang="en-US" altLang="ko-KR" sz="1000" dirty="0"/>
          </a:p>
        </p:txBody>
      </p:sp>
      <p:sp>
        <p:nvSpPr>
          <p:cNvPr id="34" name="Text 32"/>
          <p:cNvSpPr/>
          <p:nvPr/>
        </p:nvSpPr>
        <p:spPr>
          <a:xfrm>
            <a:off x="8467344" y="2980944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노하우가 개인 경험에 머물러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팀에 축적되지 않음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7344" y="3566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67344" y="384048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kern="0" spc="10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TO-BE</a:t>
            </a:r>
            <a:endParaRPr lang="en-US" altLang="ko-KR" sz="1000" dirty="0"/>
          </a:p>
        </p:txBody>
      </p:sp>
      <p:sp>
        <p:nvSpPr>
          <p:cNvPr id="37" name="Text 35"/>
          <p:cNvSpPr/>
          <p:nvPr/>
        </p:nvSpPr>
        <p:spPr>
          <a:xfrm>
            <a:off x="8467344" y="4059936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프롬프트와 구현 가이드를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공용 자산으로 축적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67344" y="4700016"/>
            <a:ext cx="2852928" cy="384048"/>
          </a:xfrm>
          <a:prstGeom prst="roundRect">
            <a:avLst>
              <a:gd name="adj" fmla="val 11905"/>
            </a:avLst>
          </a:prstGeom>
          <a:solidFill>
            <a:srgbClr val="FBE7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558784" y="4700016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· 구현 가이드 팀 표준화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8368" y="5413248"/>
            <a:ext cx="10853928" cy="1060704"/>
          </a:xfrm>
          <a:prstGeom prst="roundRect">
            <a:avLst>
              <a:gd name="adj" fmla="val 6897"/>
            </a:avLst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96112" y="5559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68880" y="554126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스터디 종료 후, 실제 Tableau 대시보드 프로젝트의 기획 업무와 .twb 파일 생성에 그대로 적용합니다.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2468880" y="590702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4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다만 AI의 .twb 생성 정확도는 아직 검증 전입니다. 최소 목표는 대시보드 틀·레이아웃과 계산식이 담긴 드래프트 확보이며, 4주차 「마스터 구현 가이드.md」로 팀 표준화합니다.</a:t>
            </a:r>
            <a:endParaRPr lang="en-US" sz="1100" dirty="0"/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4C735EEA-F87B-B8EE-AB74-603A0AFB0C11}"/>
              </a:ext>
            </a:extLst>
          </p:cNvPr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 작성과 .twb 파일 생성의 수작업을 AI로 간소화하고, 스터디 종료 즉시 실무에 적용합니다.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 실행 스케줄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8/3(월) ~ 8/28(금) · 총 4주 · 세션 9회 — 주 2~3회, 세션 사이 실습은 각자 진행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3192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96302" y="13716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376462" y="13716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56622" y="13716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36782" y="13716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16942" y="13716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29968" y="1371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주차별 산출물 · 액션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1243584" cy="329184"/>
          </a:xfrm>
          <a:prstGeom prst="roundRect">
            <a:avLst>
              <a:gd name="adj" fmla="val 17857"/>
            </a:avLst>
          </a:prstGeom>
          <a:solidFill>
            <a:srgbClr val="FBE7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96302" y="1719072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76462" y="1719072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49614" y="1719072"/>
            <a:ext cx="1060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56622" y="1719072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936782" y="1719072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009934" y="1719072"/>
            <a:ext cx="1060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주제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완료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216942" y="1719072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865376" y="1719072"/>
            <a:ext cx="3118104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029968" y="1719072"/>
            <a:ext cx="2788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데이터 딕셔너리.md 파일 생성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09544"/>
            <a:ext cx="1243584" cy="329184"/>
          </a:xfrm>
          <a:prstGeom prst="roundRect">
            <a:avLst>
              <a:gd name="adj" fmla="val 17857"/>
            </a:avLst>
          </a:prstGeom>
          <a:solidFill>
            <a:srgbClr val="FBE7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096302" y="2825496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69454" y="2825496"/>
            <a:ext cx="1060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컨텍스트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설명서.md 제작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76462" y="2825496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656622" y="2825496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729774" y="2825496"/>
            <a:ext cx="1060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 생성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36782" y="2825496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216942" y="2825496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290094" y="2825496"/>
            <a:ext cx="1060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.twb 파일 구현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(1차)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865376" y="2825496"/>
            <a:ext cx="3118104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029968" y="2825496"/>
            <a:ext cx="2788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컨텍스트 설명서.md 파일 생성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기획안 .html 파일 생성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.twb 1차 결과물 검증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315968"/>
            <a:ext cx="1243584" cy="329184"/>
          </a:xfrm>
          <a:prstGeom prst="roundRect">
            <a:avLst>
              <a:gd name="adj" fmla="val 17857"/>
            </a:avLst>
          </a:prstGeom>
          <a:solidFill>
            <a:srgbClr val="FBE7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096302" y="3931920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376462" y="3931920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49614" y="3931920"/>
            <a:ext cx="1060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.twb 2차 구현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(디자인·차트 고도화)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56622" y="3931920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936782" y="3931920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9009934" y="3931920"/>
            <a:ext cx="1060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Pain-Point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216942" y="3931920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865376" y="3931920"/>
            <a:ext cx="3118104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2029968" y="3931920"/>
            <a:ext cx="2788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.twb 2차 결과물 검증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.twb 구현 한계 사항 정리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5422392"/>
            <a:ext cx="1243584" cy="329184"/>
          </a:xfrm>
          <a:prstGeom prst="roundRect">
            <a:avLst>
              <a:gd name="adj" fmla="val 17857"/>
            </a:avLst>
          </a:prstGeom>
          <a:solidFill>
            <a:srgbClr val="FBE7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096302" y="5038344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376462" y="5038344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449614" y="5038344"/>
            <a:ext cx="1060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.twb 3차 구현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(Pain-Point 개선)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56622" y="5038344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8936782" y="5038344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216942" y="5038344"/>
            <a:ext cx="1207008" cy="987552"/>
          </a:xfrm>
          <a:prstGeom prst="roundRect">
            <a:avLst>
              <a:gd name="adj" fmla="val 463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0290094" y="5038344"/>
            <a:ext cx="1060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결과물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및 확인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865376" y="5038344"/>
            <a:ext cx="3118104" cy="987552"/>
          </a:xfrm>
          <a:prstGeom prst="roundRect">
            <a:avLst>
              <a:gd name="adj" fmla="val 4630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2029968" y="5038344"/>
            <a:ext cx="2788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.twb 구현 가이드 정립 · 우수 사례 선별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실무 적용: 기획 업무 및 .twb 생성에 활용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8368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진한 칸이 함께 모이는 세션입니다. 세션 일정은 주차별 진행 상황에 따라 조정될 수 있</a:t>
            </a:r>
            <a:r>
              <a:rPr lang="ko-KR" altLang="en-US" sz="105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습니다</a:t>
            </a:r>
            <a:r>
              <a:rPr lang="en-US" altLang="ko-KR" sz="105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4871" y="2127473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8/3 주차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4871" y="3233897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8/10 주차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4871" y="4340321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8/17 주차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04871" y="5446745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8/24 주차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Tableau 대시보드 제작 실무에 AI 활용하기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4주간 하나의 프로젝트를 완주하며, 매주 AI 활용 → 검증의 흐름을 반복합니다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3291840" cy="4434840"/>
          </a:xfrm>
          <a:prstGeom prst="roundRect">
            <a:avLst>
              <a:gd name="adj" fmla="val 1667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59536" y="1700784"/>
            <a:ext cx="457200" cy="45720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5953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700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28600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 ·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데이터마트 생성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3200400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데이터 선정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분석 주제 브레인스토밍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마트 생성 → 결과 검증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9536" y="48463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산출물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9536" y="5120640"/>
            <a:ext cx="2889504" cy="713232"/>
          </a:xfrm>
          <a:prstGeom prst="roundRect">
            <a:avLst>
              <a:gd name="adj" fmla="val 6410"/>
            </a:avLst>
          </a:prstGeom>
          <a:solidFill>
            <a:srgbClr val="FBE7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9264" y="51480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데이터 딕셔너리.md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컨텍스트 설명서.md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50792" y="3584448"/>
            <a:ext cx="301752" cy="219456"/>
          </a:xfrm>
          <a:prstGeom prst="rightArrow">
            <a:avLst/>
          </a:prstGeom>
          <a:solidFill>
            <a:srgbClr val="D8DE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53128" y="1481328"/>
            <a:ext cx="3291840" cy="4434840"/>
          </a:xfrm>
          <a:prstGeom prst="roundRect">
            <a:avLst>
              <a:gd name="adj" fmla="val 1667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54296" y="1700784"/>
            <a:ext cx="457200" cy="45720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5429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1700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54296" y="228600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기획안 생성 ·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.twb 구현 및 고도화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99432" y="3200400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대시보드 기획안(.html) 생성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 기반 .twb 파일 구현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2·3차 고도화 및 결과물 검증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한계(Pain-Point) 정리·공유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54296" y="48463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산출물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54296" y="5120640"/>
            <a:ext cx="2889504" cy="713232"/>
          </a:xfrm>
          <a:prstGeom prst="roundRect">
            <a:avLst>
              <a:gd name="adj" fmla="val 6410"/>
            </a:avLst>
          </a:prstGeom>
          <a:solidFill>
            <a:srgbClr val="FBE7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64024" y="51480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대시보드 목업.html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대시보드.twb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Pain-Point 정리 문서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45552" y="3584448"/>
            <a:ext cx="301752" cy="219456"/>
          </a:xfrm>
          <a:prstGeom prst="rightArrow">
            <a:avLst/>
          </a:prstGeom>
          <a:solidFill>
            <a:srgbClr val="D8DE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247888" y="1481328"/>
            <a:ext cx="3291840" cy="4434840"/>
          </a:xfrm>
          <a:prstGeom prst="roundRect">
            <a:avLst>
              <a:gd name="adj" fmla="val 1667"/>
            </a:avLst>
          </a:prstGeom>
          <a:solidFill>
            <a:srgbClr val="F5F7F8"/>
          </a:solidFill>
          <a:ln w="12700">
            <a:solidFill>
              <a:srgbClr val="E2E7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449056" y="1700784"/>
            <a:ext cx="457200" cy="45720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449056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25128" y="1700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4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49056" y="228600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B3A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결과물 공유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394192" y="3200400"/>
            <a:ext cx="2999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결과물 평가 진행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사례 선별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552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자산으로 내재화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49056" y="48463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C7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산출물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49056" y="5120640"/>
            <a:ext cx="2889504" cy="713232"/>
          </a:xfrm>
          <a:prstGeom prst="roundRect">
            <a:avLst>
              <a:gd name="adj" fmla="val 6410"/>
            </a:avLst>
          </a:prstGeom>
          <a:solidFill>
            <a:srgbClr val="FBE7D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558784" y="51480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우수사례 프롬프트 모음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4A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마스터 구현 가이드.md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실습 데이터는 Kaggle 공개 데이터셋 또는 Faker로 직접 생성한 </a:t>
            </a:r>
            <a:r>
              <a:rPr lang="en-US" sz="1050" b="1" dirty="0">
                <a:solidFill>
                  <a:srgbClr val="6B7A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데이터를 사용합니다.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691</Words>
  <Application>Microsoft Office PowerPoint</Application>
  <PresentationFormat>와이드스크린</PresentationFormat>
  <Paragraphs>126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대시보드 제작 실무에 AI 활용하기</dc:title>
  <dc:subject>PptxGenJS Presentation</dc:subject>
  <dc:creator>PptxGenJS</dc:creator>
  <cp:lastModifiedBy>Tableau Team</cp:lastModifiedBy>
  <cp:revision>16</cp:revision>
  <dcterms:created xsi:type="dcterms:W3CDTF">2026-08-04T05:43:16Z</dcterms:created>
  <dcterms:modified xsi:type="dcterms:W3CDTF">2026-08-04T07:03:57Z</dcterms:modified>
</cp:coreProperties>
</file>